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1905000" y="2857500"/>
            <a:ext cx="14478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1A1A2E"/>
                </a:solidFill>
                <a:latin typeface="微软雅黑"/>
              </a:rPr>
              <a:t>基于Qwen2.5-7B的\n中文多模态情感分析系统</a:t>
            </a:r>
          </a:p>
        </p:txBody>
      </p:sp>
      <p:sp>
        <p:nvSpPr>
          <p:cNvPr id="6" name="drawio2pptx:shape:subtitle"/>
          <p:cNvSpPr/>
          <p:nvPr/>
        </p:nvSpPr>
        <p:spPr>
          <a:xfrm>
            <a:off x="1905000" y="4953000"/>
            <a:ext cx="14478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硕士学位论文中期答辩</a:t>
            </a:r>
          </a:p>
        </p:txBody>
      </p:sp>
      <p:sp>
        <p:nvSpPr>
          <p:cNvPr id="7" name="drawio2pptx:shape:info"/>
          <p:cNvSpPr/>
          <p:nvPr/>
        </p:nvSpPr>
        <p:spPr>
          <a:xfrm>
            <a:off x="6667500" y="6191250"/>
            <a:ext cx="4953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汇报人：王少坤\n学号：2022217506\n指导教师：李佳</a:t>
            </a:r>
          </a:p>
        </p:txBody>
      </p:sp>
      <p:sp>
        <p:nvSpPr>
          <p:cNvPr id="8" name="drawio2pptx:shape:date"/>
          <p:cNvSpPr/>
          <p:nvPr/>
        </p:nvSpPr>
        <p:spPr>
          <a:xfrm>
            <a:off x="15240000" y="9525000"/>
            <a:ext cx="2667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目录</a:t>
            </a:r>
          </a:p>
        </p:txBody>
      </p:sp>
      <p:sp>
        <p:nvSpPr>
          <p:cNvPr id="6" name="drawio2pptx:shape:contents"/>
          <p:cNvSpPr/>
          <p:nvPr/>
        </p:nvSpPr>
        <p:spPr>
          <a:xfrm>
            <a:off x="1143000" y="1714500"/>
            <a:ext cx="4762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0" i="0" u="none">
                <a:solidFill>
                  <a:srgbClr val="1F497D"/>
                </a:solidFill>
                <a:latin typeface="Arial"/>
              </a:rPr>
              <a:t>CONTENTS</a:t>
            </a:r>
          </a:p>
        </p:txBody>
      </p:sp>
      <p:sp>
        <p:nvSpPr>
          <p:cNvPr id="7" name="drawio2pptx:shape:item1"/>
          <p:cNvSpPr/>
          <p:nvPr/>
        </p:nvSpPr>
        <p:spPr>
          <a:xfrm>
            <a:off x="1143000" y="28575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01  研究背景与意义</a:t>
            </a:r>
          </a:p>
        </p:txBody>
      </p:sp>
      <p:sp>
        <p:nvSpPr>
          <p:cNvPr id="8" name="drawio2pptx:shape:item2"/>
          <p:cNvSpPr/>
          <p:nvPr/>
        </p:nvSpPr>
        <p:spPr>
          <a:xfrm>
            <a:off x="1143000" y="34290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02  研究目标</a:t>
            </a:r>
          </a:p>
        </p:txBody>
      </p:sp>
      <p:sp>
        <p:nvSpPr>
          <p:cNvPr id="9" name="drawio2pptx:shape:item3"/>
          <p:cNvSpPr/>
          <p:nvPr/>
        </p:nvSpPr>
        <p:spPr>
          <a:xfrm>
            <a:off x="1143000" y="40005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03  相关工作</a:t>
            </a:r>
          </a:p>
        </p:txBody>
      </p:sp>
      <p:sp>
        <p:nvSpPr>
          <p:cNvPr id="10" name="drawio2pptx:shape:item4"/>
          <p:cNvSpPr/>
          <p:nvPr/>
        </p:nvSpPr>
        <p:spPr>
          <a:xfrm>
            <a:off x="1143000" y="45720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04  系统架构与实现</a:t>
            </a:r>
          </a:p>
        </p:txBody>
      </p:sp>
      <p:sp>
        <p:nvSpPr>
          <p:cNvPr id="11" name="drawio2pptx:shape:item5"/>
          <p:cNvSpPr/>
          <p:nvPr/>
        </p:nvSpPr>
        <p:spPr>
          <a:xfrm>
            <a:off x="1143000" y="51435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05  模型微调方法</a:t>
            </a:r>
          </a:p>
        </p:txBody>
      </p:sp>
      <p:sp>
        <p:nvSpPr>
          <p:cNvPr id="12" name="drawio2pptx:shape:item6"/>
          <p:cNvSpPr/>
          <p:nvPr/>
        </p:nvSpPr>
        <p:spPr>
          <a:xfrm>
            <a:off x="1143000" y="57150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06  实验设计与结果</a:t>
            </a:r>
          </a:p>
        </p:txBody>
      </p:sp>
      <p:sp>
        <p:nvSpPr>
          <p:cNvPr id="13" name="drawio2pptx:shape:item7"/>
          <p:cNvSpPr/>
          <p:nvPr/>
        </p:nvSpPr>
        <p:spPr>
          <a:xfrm>
            <a:off x="1143000" y="6286500"/>
            <a:ext cx="3810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07  总结与后续计划</a:t>
            </a:r>
          </a:p>
        </p:txBody>
      </p:sp>
      <p:sp>
        <p:nvSpPr>
          <p:cNvPr id="14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01. 研究背景与意义</a:t>
            </a:r>
          </a:p>
        </p:txBody>
      </p:sp>
      <p:sp>
        <p:nvSpPr>
          <p:cNvPr id="6" name="drawio2pptx:shape:badge1"/>
          <p:cNvSpPr/>
          <p:nvPr/>
        </p:nvSpPr>
        <p:spPr>
          <a:xfrm>
            <a:off x="952500" y="171450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subtitle1"/>
          <p:cNvSpPr/>
          <p:nvPr/>
        </p:nvSpPr>
        <p:spPr>
          <a:xfrm>
            <a:off x="1143000" y="171450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情感分析的应用场景</a:t>
            </a:r>
          </a:p>
        </p:txBody>
      </p:sp>
      <p:sp>
        <p:nvSpPr>
          <p:cNvPr id="8" name="drawio2pptx:shape:content1"/>
          <p:cNvSpPr/>
          <p:nvPr/>
        </p:nvSpPr>
        <p:spPr>
          <a:xfrm>
            <a:off x="1143000" y="2190750"/>
            <a:ext cx="76200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社交媒体舆情监控：实时分析用户评论情感倾向\n• 客服系统：自动识别客户情绪，优化服务策略\n• 金融领域：分析新闻和社交媒体预测市场情绪\n• 教育领域：监测学生学习状态与情感反馈\n• 医疗健康：辅助心理疾病筛查与干预</a:t>
            </a:r>
          </a:p>
        </p:txBody>
      </p:sp>
      <p:sp>
        <p:nvSpPr>
          <p:cNvPr id="9" name="drawio2pptx:shape:badge2"/>
          <p:cNvSpPr/>
          <p:nvPr/>
        </p:nvSpPr>
        <p:spPr>
          <a:xfrm>
            <a:off x="952500" y="514350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subtitle2"/>
          <p:cNvSpPr/>
          <p:nvPr/>
        </p:nvSpPr>
        <p:spPr>
          <a:xfrm>
            <a:off x="1143000" y="514350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研究意义</a:t>
            </a:r>
          </a:p>
        </p:txBody>
      </p:sp>
      <p:sp>
        <p:nvSpPr>
          <p:cNvPr id="11" name="drawio2pptx:shape:content2"/>
          <p:cNvSpPr/>
          <p:nvPr/>
        </p:nvSpPr>
        <p:spPr>
          <a:xfrm>
            <a:off x="1143000" y="5619750"/>
            <a:ext cx="762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传统情感分析仅返回单一情绪标签，信息维度有限\n• 细粒度情感分析需要多维度评估（效价、唤醒度、支配度）\n• 大语言模型具备深度语义理解能力，适合复杂情感推理\n• Chain-of-Thought推理可提供可解释的情感分析结果</a:t>
            </a:r>
          </a:p>
        </p:txBody>
      </p:sp>
      <p:sp>
        <p:nvSpPr>
          <p:cNvPr id="12" name="drawio2pptx:shape:highlight"/>
          <p:cNvSpPr/>
          <p:nvPr/>
        </p:nvSpPr>
        <p:spPr>
          <a:xfrm>
            <a:off x="10001250" y="2857500"/>
            <a:ext cx="6667500" cy="1905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FFFFF"/>
                </a:solidFill>
                <a:latin typeface="微软雅黑"/>
              </a:rPr>
              <a:t>多模态情感分析\n= 文本 + 认知推理 + 人格推断</a:t>
            </a:r>
          </a:p>
        </p:txBody>
      </p:sp>
      <p:sp>
        <p:nvSpPr>
          <p:cNvPr id="13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02. 研究目标</a:t>
            </a:r>
          </a:p>
        </p:txBody>
      </p:sp>
      <p:sp>
        <p:nvSpPr>
          <p:cNvPr id="6" name="drawio2pptx:shape:goal1"/>
          <p:cNvSpPr/>
          <p:nvPr/>
        </p:nvSpPr>
        <p:spPr>
          <a:xfrm>
            <a:off x="952500" y="1905000"/>
            <a:ext cx="3810000" cy="266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核心目标\n\n基于Qwen2.5-7B大语言模型，\n构建支持Chain-of-Thought推理的\n中文多模态情感分析系统</a:t>
            </a:r>
          </a:p>
        </p:txBody>
      </p:sp>
      <p:sp>
        <p:nvSpPr>
          <p:cNvPr id="7" name="drawio2pptx:shape:goal2"/>
          <p:cNvSpPr/>
          <p:nvPr/>
        </p:nvSpPr>
        <p:spPr>
          <a:xfrm>
            <a:off x="5334000" y="1905000"/>
            <a:ext cx="3810000" cy="266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功能指标\n\n• 主情感分类（6类）\n• VAD情感评分\n• MBTI人格推断\n• CoT推理链可视化\n• 多模式推理支持</a:t>
            </a:r>
          </a:p>
        </p:txBody>
      </p:sp>
      <p:sp>
        <p:nvSpPr>
          <p:cNvPr id="8" name="drawio2pptx:shape:goal3"/>
          <p:cNvSpPr/>
          <p:nvPr/>
        </p:nvSpPr>
        <p:spPr>
          <a:xfrm>
            <a:off x="9715500" y="1905000"/>
            <a:ext cx="3810000" cy="266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技术指标\n\n• 准确率 &gt; 80%\n• F1 Score &gt; 0.75\n• AUC-ROC &gt; 0.90\n• Emotion MAE &lt; 0.10\n• 推理延迟 &lt; 500ms</a:t>
            </a:r>
          </a:p>
        </p:txBody>
      </p:sp>
      <p:sp>
        <p:nvSpPr>
          <p:cNvPr id="9" name="drawio2pptx:shape:goal4"/>
          <p:cNvSpPr/>
          <p:nvPr/>
        </p:nvSpPr>
        <p:spPr>
          <a:xfrm>
            <a:off x="14097000" y="1905000"/>
            <a:ext cx="3810000" cy="266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部署指标\n\n• 支持本地LM Studio部署\n• 支持云端vLLM部署\n• GGUF 4bit量化压缩\n• Web界面可视化展示</a:t>
            </a:r>
          </a:p>
        </p:txBody>
      </p:sp>
      <p:sp>
        <p:nvSpPr>
          <p:cNvPr id="10" name="drawio2pptx:shape:highlight"/>
          <p:cNvSpPr/>
          <p:nvPr/>
        </p:nvSpPr>
        <p:spPr>
          <a:xfrm>
            <a:off x="952500" y="5715000"/>
            <a:ext cx="16383000" cy="762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创新点：7步Chain-of-Thought推理链 + 红线规则防幻觉</a:t>
            </a:r>
          </a:p>
        </p:txBody>
      </p:sp>
      <p:sp>
        <p:nvSpPr>
          <p:cNvPr id="11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03. 相关工作</a:t>
            </a:r>
          </a:p>
        </p:txBody>
      </p:sp>
      <p:sp>
        <p:nvSpPr>
          <p:cNvPr id="6" name="drawio2pptx:shape:header1"/>
          <p:cNvSpPr/>
          <p:nvPr/>
        </p:nvSpPr>
        <p:spPr>
          <a:xfrm>
            <a:off x="952500" y="1714500"/>
            <a:ext cx="3810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传统方法</a:t>
            </a:r>
          </a:p>
        </p:txBody>
      </p:sp>
      <p:sp>
        <p:nvSpPr>
          <p:cNvPr id="7" name="drawio2pptx:shape:content1"/>
          <p:cNvSpPr/>
          <p:nvPr/>
        </p:nvSpPr>
        <p:spPr>
          <a:xfrm>
            <a:off x="952500" y="2190750"/>
            <a:ext cx="381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SVM、朴素贝叶斯等机器学习模型\n• 依赖手工特征工程\n• 难以捕捉深层语义信息\n• 情感词典方法受限于词典覆盖</a:t>
            </a:r>
          </a:p>
        </p:txBody>
      </p:sp>
      <p:sp>
        <p:nvSpPr>
          <p:cNvPr id="8" name="drawio2pptx:shape:header2"/>
          <p:cNvSpPr/>
          <p:nvPr/>
        </p:nvSpPr>
        <p:spPr>
          <a:xfrm>
            <a:off x="5334000" y="1714500"/>
            <a:ext cx="3810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深度学习方法</a:t>
            </a:r>
          </a:p>
        </p:txBody>
      </p:sp>
      <p:sp>
        <p:nvSpPr>
          <p:cNvPr id="9" name="drawio2pptx:shape:content2"/>
          <p:cNvSpPr/>
          <p:nvPr/>
        </p:nvSpPr>
        <p:spPr>
          <a:xfrm>
            <a:off x="5334000" y="2190750"/>
            <a:ext cx="381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BERT、RoBERTa等预训练模型\n• TextCNN、LSTM等序列模型\n• 需要大量标注数据微调\n• 缺乏可解释性</a:t>
            </a:r>
          </a:p>
        </p:txBody>
      </p:sp>
      <p:sp>
        <p:nvSpPr>
          <p:cNvPr id="10" name="drawio2pptx:shape:header3"/>
          <p:cNvSpPr/>
          <p:nvPr/>
        </p:nvSpPr>
        <p:spPr>
          <a:xfrm>
            <a:off x="9715500" y="1714500"/>
            <a:ext cx="7620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大语言模型方法</a:t>
            </a:r>
          </a:p>
        </p:txBody>
      </p:sp>
      <p:sp>
        <p:nvSpPr>
          <p:cNvPr id="11" name="drawio2pptx:shape:content3"/>
          <p:cNvSpPr/>
          <p:nvPr/>
        </p:nvSpPr>
        <p:spPr>
          <a:xfrm>
            <a:off x="9715500" y="2190750"/>
            <a:ext cx="762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GPT-4、Claude等通用LLM\n• 强大的零样本/少样本能力\n• 支持Chain-of-Thought推理\n• API调用成本高、隐私风险</a:t>
            </a:r>
          </a:p>
        </p:txBody>
      </p:sp>
      <p:sp>
        <p:nvSpPr>
          <p:cNvPr id="12" name="drawio2pptx:shape:gap_header"/>
          <p:cNvSpPr/>
          <p:nvPr/>
        </p:nvSpPr>
        <p:spPr>
          <a:xfrm>
            <a:off x="952500" y="4762500"/>
            <a:ext cx="16383000" cy="47625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现有方法的不足</a:t>
            </a:r>
          </a:p>
        </p:txBody>
      </p:sp>
      <p:sp>
        <p:nvSpPr>
          <p:cNvPr id="13" name="drawio2pptx:shape:gap1"/>
          <p:cNvSpPr/>
          <p:nvPr/>
        </p:nvSpPr>
        <p:spPr>
          <a:xfrm>
            <a:off x="952500" y="5429250"/>
            <a:ext cx="3810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❌ 仅返回单一情绪标签\n缺乏多维度情感评估</a:t>
            </a:r>
          </a:p>
        </p:txBody>
      </p:sp>
      <p:sp>
        <p:nvSpPr>
          <p:cNvPr id="14" name="drawio2pptx:shape:gap2"/>
          <p:cNvSpPr/>
          <p:nvPr/>
        </p:nvSpPr>
        <p:spPr>
          <a:xfrm>
            <a:off x="5334000" y="5429250"/>
            <a:ext cx="3810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❌ 缺乏可解释性\n推理过程不可见</a:t>
            </a:r>
          </a:p>
        </p:txBody>
      </p:sp>
      <p:sp>
        <p:nvSpPr>
          <p:cNvPr id="15" name="drawio2pptx:shape:gap3"/>
          <p:cNvSpPr/>
          <p:nvPr/>
        </p:nvSpPr>
        <p:spPr>
          <a:xfrm>
            <a:off x="9715500" y="5429250"/>
            <a:ext cx="3810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❌ 无法推断用户人格\n缺乏个性化理解</a:t>
            </a:r>
          </a:p>
        </p:txBody>
      </p:sp>
      <p:sp>
        <p:nvSpPr>
          <p:cNvPr id="16" name="drawio2pptx:shape:gap4"/>
          <p:cNvSpPr/>
          <p:nvPr/>
        </p:nvSpPr>
        <p:spPr>
          <a:xfrm>
            <a:off x="14097000" y="5429250"/>
            <a:ext cx="3810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❌ 云端API依赖\n隐私与成本问题</a:t>
            </a:r>
          </a:p>
        </p:txBody>
      </p:sp>
      <p:sp>
        <p:nvSpPr>
          <p:cNvPr id="17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04. 系统架构与实现</a:t>
            </a:r>
          </a:p>
        </p:txBody>
      </p:sp>
      <p:sp>
        <p:nvSpPr>
          <p:cNvPr id="6" name="drawio2pptx:shape:layer1"/>
          <p:cNvSpPr/>
          <p:nvPr/>
        </p:nvSpPr>
        <p:spPr>
          <a:xfrm>
            <a:off x="952500" y="1905000"/>
            <a:ext cx="3333750" cy="1714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用户输入层\n\n文本输入\n推理模式选择\nCoT开关</a:t>
            </a:r>
          </a:p>
        </p:txBody>
      </p:sp>
      <p:sp>
        <p:nvSpPr>
          <p:cNvPr id="7" name="drawio2pptx:shape:arrow1"/>
          <p:cNvSpPr/>
          <p:nvPr/>
        </p:nvSpPr>
        <p:spPr>
          <a:xfrm>
            <a:off x="4572000" y="2667000"/>
            <a:ext cx="571500" cy="1905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wio2pptx:shape:layer2"/>
          <p:cNvSpPr/>
          <p:nvPr/>
        </p:nvSpPr>
        <p:spPr>
          <a:xfrm>
            <a:off x="5334000" y="1905000"/>
            <a:ext cx="3333750" cy="1714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前端展示层\n\nReact 18\nAnt Design 5\nECharts 5\nVite 5</a:t>
            </a:r>
          </a:p>
        </p:txBody>
      </p:sp>
      <p:sp>
        <p:nvSpPr>
          <p:cNvPr id="9" name="drawio2pptx:shape:arrow2"/>
          <p:cNvSpPr/>
          <p:nvPr/>
        </p:nvSpPr>
        <p:spPr>
          <a:xfrm>
            <a:off x="8953500" y="2667000"/>
            <a:ext cx="571500" cy="1905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layer3"/>
          <p:cNvSpPr/>
          <p:nvPr/>
        </p:nvSpPr>
        <p:spPr>
          <a:xfrm>
            <a:off x="9715500" y="1905000"/>
            <a:ext cx="3333750" cy="1714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后端服务层\n\nFastAPI\nSQLAlchemy\nUvicorn\nMySQL</a:t>
            </a:r>
          </a:p>
        </p:txBody>
      </p:sp>
      <p:sp>
        <p:nvSpPr>
          <p:cNvPr id="11" name="drawio2pptx:shape:arrow3"/>
          <p:cNvSpPr/>
          <p:nvPr/>
        </p:nvSpPr>
        <p:spPr>
          <a:xfrm>
            <a:off x="13335000" y="2667000"/>
            <a:ext cx="571500" cy="1905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wio2pptx:shape:layer4"/>
          <p:cNvSpPr/>
          <p:nvPr/>
        </p:nvSpPr>
        <p:spPr>
          <a:xfrm>
            <a:off x="14097000" y="1905000"/>
            <a:ext cx="3333750" cy="1714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FFFFFF"/>
                </a:solidFill>
                <a:latin typeface="微软雅黑"/>
              </a:rPr>
              <a:t>推理引擎层\n\nLM Studio (本地)\nvLLM (云端)\nQwen2.5-7B\nLoRA微调</a:t>
            </a:r>
          </a:p>
        </p:txBody>
      </p:sp>
      <p:sp>
        <p:nvSpPr>
          <p:cNvPr id="13" name="drawio2pptx:shape:flow_label"/>
          <p:cNvSpPr/>
          <p:nvPr/>
        </p:nvSpPr>
        <p:spPr>
          <a:xfrm>
            <a:off x="5334000" y="2476500"/>
            <a:ext cx="333375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HTTP/JSON</a:t>
            </a:r>
          </a:p>
        </p:txBody>
      </p:sp>
      <p:sp>
        <p:nvSpPr>
          <p:cNvPr id="14" name="drawio2pptx:shape:features_header"/>
          <p:cNvSpPr/>
          <p:nvPr/>
        </p:nvSpPr>
        <p:spPr>
          <a:xfrm>
            <a:off x="952500" y="4286250"/>
            <a:ext cx="16383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核心功能特性</a:t>
            </a:r>
          </a:p>
        </p:txBody>
      </p:sp>
      <p:sp>
        <p:nvSpPr>
          <p:cNvPr id="15" name="drawio2pptx:shape:feat1"/>
          <p:cNvSpPr/>
          <p:nvPr/>
        </p:nvSpPr>
        <p:spPr>
          <a:xfrm>
            <a:off x="952500" y="4857750"/>
            <a:ext cx="3810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CoT推理链\n7步Chain-of-Thought\n可解释性分析</a:t>
            </a:r>
          </a:p>
        </p:txBody>
      </p:sp>
      <p:sp>
        <p:nvSpPr>
          <p:cNvPr id="16" name="drawio2pptx:shape:feat2"/>
          <p:cNvSpPr/>
          <p:nvPr/>
        </p:nvSpPr>
        <p:spPr>
          <a:xfrm>
            <a:off x="5334000" y="4857750"/>
            <a:ext cx="3810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VAD评分\n效价/唤醒度/支配度\n三维情感模型</a:t>
            </a:r>
          </a:p>
        </p:txBody>
      </p:sp>
      <p:sp>
        <p:nvSpPr>
          <p:cNvPr id="17" name="drawio2pptx:shape:feat3"/>
          <p:cNvSpPr/>
          <p:nvPr/>
        </p:nvSpPr>
        <p:spPr>
          <a:xfrm>
            <a:off x="9715500" y="4857750"/>
            <a:ext cx="3810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MBTI推断\n基于文本的\n人格类型预测</a:t>
            </a:r>
          </a:p>
        </p:txBody>
      </p:sp>
      <p:sp>
        <p:nvSpPr>
          <p:cNvPr id="18" name="drawio2pptx:shape:feat4"/>
          <p:cNvSpPr/>
          <p:nvPr/>
        </p:nvSpPr>
        <p:spPr>
          <a:xfrm>
            <a:off x="14097000" y="4857750"/>
            <a:ext cx="3810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红线规则\n防幻觉机制\n无证据分为0</a:t>
            </a:r>
          </a:p>
        </p:txBody>
      </p:sp>
      <p:sp>
        <p:nvSpPr>
          <p:cNvPr id="19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05. 模型微调方法</a:t>
            </a:r>
          </a:p>
        </p:txBody>
      </p:sp>
      <p:sp>
        <p:nvSpPr>
          <p:cNvPr id="6" name="drawio2pptx:shape:badge1"/>
          <p:cNvSpPr/>
          <p:nvPr/>
        </p:nvSpPr>
        <p:spPr>
          <a:xfrm>
            <a:off x="952500" y="171450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subtitle1"/>
          <p:cNvSpPr/>
          <p:nvPr/>
        </p:nvSpPr>
        <p:spPr>
          <a:xfrm>
            <a:off x="1143000" y="171450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LoRA微调策略</a:t>
            </a:r>
          </a:p>
        </p:txBody>
      </p:sp>
      <p:sp>
        <p:nvSpPr>
          <p:cNvPr id="8" name="drawio2pptx:shape:content1"/>
          <p:cNvSpPr/>
          <p:nvPr/>
        </p:nvSpPr>
        <p:spPr>
          <a:xfrm>
            <a:off x="1143000" y="2190750"/>
            <a:ext cx="6667500" cy="2381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基础模型：Qwen2.5-7B-Instruct\n• 微调方法：Lora (Low-Rank Adaptation)\n• Lora Rank: 16, Alpha: 32\n• 目标模块：q_proj, k_proj, v_proj, o_proj, gate_proj, up_proj, down_proj\n• 学习率：1e-4, Epochs: 3\n• 训练框架：LLaMA-Factory / ms-swift</a:t>
            </a:r>
          </a:p>
        </p:txBody>
      </p:sp>
      <p:sp>
        <p:nvSpPr>
          <p:cNvPr id="9" name="drawio2pptx:shape:badge2"/>
          <p:cNvSpPr/>
          <p:nvPr/>
        </p:nvSpPr>
        <p:spPr>
          <a:xfrm>
            <a:off x="8572500" y="171450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subtitle2"/>
          <p:cNvSpPr/>
          <p:nvPr/>
        </p:nvSpPr>
        <p:spPr>
          <a:xfrm>
            <a:off x="8763000" y="171450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7步CoT重标注</a:t>
            </a:r>
          </a:p>
        </p:txBody>
      </p:sp>
      <p:sp>
        <p:nvSpPr>
          <p:cNvPr id="11" name="drawio2pptx:shape:content2"/>
          <p:cNvSpPr/>
          <p:nvPr/>
        </p:nvSpPr>
        <p:spPr>
          <a:xfrm>
            <a:off x="8763000" y="2190750"/>
            <a:ext cx="6667500" cy="2381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步骤1：提取显式情感信号\n• 步骤2：识别隐式情感信号\n• 步骤3：确定情感强度\n• 步骤4：识别情感原因\n• 步骤5：主情感判断\n• 步骤6：MBTI推断\n• 步骤7：最终总结</a:t>
            </a:r>
          </a:p>
        </p:txBody>
      </p:sp>
      <p:sp>
        <p:nvSpPr>
          <p:cNvPr id="12" name="drawio2pptx:shape:highlight"/>
          <p:cNvSpPr/>
          <p:nvPr/>
        </p:nvSpPr>
        <p:spPr>
          <a:xfrm>
            <a:off x="952500" y="5238750"/>
            <a:ext cx="16383000" cy="5715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红线规则（防幻觉）：无证据的情绪分数必须 ≤ 0.03</a:t>
            </a:r>
          </a:p>
        </p:txBody>
      </p:sp>
      <p:sp>
        <p:nvSpPr>
          <p:cNvPr id="13" name="drawio2pptx:shape:data_header"/>
          <p:cNvSpPr/>
          <p:nvPr/>
        </p:nvSpPr>
        <p:spPr>
          <a:xfrm>
            <a:off x="952500" y="6286500"/>
            <a:ext cx="16383000" cy="381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多任务数据集</a:t>
            </a:r>
          </a:p>
        </p:txBody>
      </p:sp>
      <p:sp>
        <p:nvSpPr>
          <p:cNvPr id="14" name="drawio2pptx:shape:task1"/>
          <p:cNvSpPr/>
          <p:nvPr/>
        </p:nvSpPr>
        <p:spPr>
          <a:xfrm>
            <a:off x="952500" y="6858000"/>
            <a:ext cx="3810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task_emotion_reg\n情感回归</a:t>
            </a:r>
          </a:p>
        </p:txBody>
      </p:sp>
      <p:sp>
        <p:nvSpPr>
          <p:cNvPr id="15" name="drawio2pptx:shape:task2"/>
          <p:cNvSpPr/>
          <p:nvPr/>
        </p:nvSpPr>
        <p:spPr>
          <a:xfrm>
            <a:off x="5334000" y="6858000"/>
            <a:ext cx="3810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task_primary_cls\n主情感分类</a:t>
            </a:r>
          </a:p>
        </p:txBody>
      </p:sp>
      <p:sp>
        <p:nvSpPr>
          <p:cNvPr id="16" name="drawio2pptx:shape:task3"/>
          <p:cNvSpPr/>
          <p:nvPr/>
        </p:nvSpPr>
        <p:spPr>
          <a:xfrm>
            <a:off x="9715500" y="6858000"/>
            <a:ext cx="3810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task_mbti_pred\nMBTI预测</a:t>
            </a:r>
          </a:p>
        </p:txBody>
      </p:sp>
      <p:sp>
        <p:nvSpPr>
          <p:cNvPr id="17" name="drawio2pptx:shape:task4"/>
          <p:cNvSpPr/>
          <p:nvPr/>
        </p:nvSpPr>
        <p:spPr>
          <a:xfrm>
            <a:off x="14097000" y="6858000"/>
            <a:ext cx="3810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task_cot_gen\nCoT生成</a:t>
            </a:r>
          </a:p>
        </p:txBody>
      </p:sp>
      <p:sp>
        <p:nvSpPr>
          <p:cNvPr id="18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06. Chain-of-Thought推理过程</a:t>
            </a:r>
          </a:p>
        </p:txBody>
      </p:sp>
      <p:sp>
        <p:nvSpPr>
          <p:cNvPr id="6" name="drawio2pptx:shape:input"/>
          <p:cNvSpPr/>
          <p:nvPr/>
        </p:nvSpPr>
        <p:spPr>
          <a:xfrm>
            <a:off x="952500" y="1524000"/>
            <a:ext cx="3810000" cy="1143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输入文本：\n"今天面试失败了，感觉自己一无是处..."</a:t>
            </a:r>
          </a:p>
        </p:txBody>
      </p:sp>
      <p:sp>
        <p:nvSpPr>
          <p:cNvPr id="7" name="drawio2pptx:shape:step1"/>
          <p:cNvSpPr/>
          <p:nvPr/>
        </p:nvSpPr>
        <p:spPr>
          <a:xfrm>
            <a:off x="952500" y="2857500"/>
            <a:ext cx="3810000" cy="13335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1: 提取显式情感\n"面试失败" → 负面信号\n"一无是处" → 自我否定</a:t>
            </a:r>
          </a:p>
        </p:txBody>
      </p:sp>
      <p:sp>
        <p:nvSpPr>
          <p:cNvPr id="8" name="drawio2pptx:shape:step2"/>
          <p:cNvSpPr/>
          <p:nvPr/>
        </p:nvSpPr>
        <p:spPr>
          <a:xfrm>
            <a:off x="5334000" y="2857500"/>
            <a:ext cx="3810000" cy="13335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2: 识别隐式情感\n• 叹气/无奈语气（隐含）\n• 自我评价偏低（隐含）</a:t>
            </a:r>
          </a:p>
        </p:txBody>
      </p:sp>
      <p:sp>
        <p:nvSpPr>
          <p:cNvPr id="9" name="drawio2pptx:shape:step3"/>
          <p:cNvSpPr/>
          <p:nvPr/>
        </p:nvSpPr>
        <p:spPr>
          <a:xfrm>
            <a:off x="9715500" y="2857500"/>
            <a:ext cx="3810000" cy="13335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3: 确定情感强度\n悲伤强度：高 (0.85)\n焦虑程度：中 (0.60)</a:t>
            </a:r>
          </a:p>
        </p:txBody>
      </p:sp>
      <p:sp>
        <p:nvSpPr>
          <p:cNvPr id="10" name="drawio2pptx:shape:step4"/>
          <p:cNvSpPr/>
          <p:nvPr/>
        </p:nvSpPr>
        <p:spPr>
          <a:xfrm>
            <a:off x="14097000" y="2857500"/>
            <a:ext cx="3810000" cy="13335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4: 识别情感原因\n• 面试挫折\n• 自我价值怀疑</a:t>
            </a:r>
          </a:p>
        </p:txBody>
      </p:sp>
      <p:sp>
        <p:nvSpPr>
          <p:cNvPr id="11" name="drawio2pptx:shape:step5"/>
          <p:cNvSpPr/>
          <p:nvPr/>
        </p:nvSpPr>
        <p:spPr>
          <a:xfrm>
            <a:off x="952500" y="4381500"/>
            <a:ext cx="3810000" cy="1143000"/>
          </a:xfrm>
          <a:prstGeom prst="rect">
            <a:avLst/>
          </a:prstGeom>
          <a:solidFill>
            <a:srgbClr val="E1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5: 主情感判断\n主情感：悲伤 (sad)\n置信度：0.92</a:t>
            </a:r>
          </a:p>
        </p:txBody>
      </p:sp>
      <p:sp>
        <p:nvSpPr>
          <p:cNvPr id="12" name="drawio2pptx:shape:step6"/>
          <p:cNvSpPr/>
          <p:nvPr/>
        </p:nvSpPr>
        <p:spPr>
          <a:xfrm>
            <a:off x="5334000" y="4381500"/>
            <a:ext cx="3810000" cy="11430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6: MBTI推断\n可能类型：INFP/ISFP\n（内倾、情感型）</a:t>
            </a:r>
          </a:p>
        </p:txBody>
      </p:sp>
      <p:sp>
        <p:nvSpPr>
          <p:cNvPr id="13" name="drawio2pptx:shape:step7"/>
          <p:cNvSpPr/>
          <p:nvPr/>
        </p:nvSpPr>
        <p:spPr>
          <a:xfrm>
            <a:off x="9715500" y="4381500"/>
            <a:ext cx="3810000" cy="1143000"/>
          </a:xfrm>
          <a:prstGeom prst="rect">
            <a:avLst/>
          </a:prstGeom>
          <a:solidFill>
            <a:srgbClr val="E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Step 7: 最终总结\n该用户在经历挫折后产生\n自我否定情绪，需要鼓励</a:t>
            </a:r>
          </a:p>
        </p:txBody>
      </p:sp>
      <p:sp>
        <p:nvSpPr>
          <p:cNvPr id="14" name="drawio2pptx:shape:result"/>
          <p:cNvSpPr/>
          <p:nvPr/>
        </p:nvSpPr>
        <p:spPr>
          <a:xfrm>
            <a:off x="14097000" y="4381500"/>
            <a:ext cx="3810000" cy="1905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输出结果：\n• 主情感：悲伤 (sad)\n• 情感分数：sad=0.85, angry=0.05, neutral=0.10\n• VAD: V=-0.6, A=0.4, D=0.3\n• MBTI: INFP\n• 建议：给予鼓励和肯定</a:t>
            </a:r>
          </a:p>
        </p:txBody>
      </p:sp>
      <p:sp>
        <p:nvSpPr>
          <p:cNvPr id="15" name="drawio2pptx:shape:note"/>
          <p:cNvSpPr/>
          <p:nvPr/>
        </p:nvSpPr>
        <p:spPr>
          <a:xfrm>
            <a:off x="952500" y="6858000"/>
            <a:ext cx="16383000" cy="57150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⚠️ CoT示例图示：实际内容请从前端截图后替换</a:t>
            </a:r>
          </a:p>
        </p:txBody>
      </p:sp>
      <p:sp>
        <p:nvSpPr>
          <p:cNvPr id="16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07. GGUF量化与部署方案</a:t>
            </a:r>
          </a:p>
        </p:txBody>
      </p:sp>
      <p:sp>
        <p:nvSpPr>
          <p:cNvPr id="6" name="drawio2pptx:shape:header"/>
          <p:cNvSpPr/>
          <p:nvPr/>
        </p:nvSpPr>
        <p:spPr>
          <a:xfrm>
            <a:off x="952500" y="1524000"/>
            <a:ext cx="163830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量化方案对比</a:t>
            </a:r>
          </a:p>
        </p:txBody>
      </p:sp>
      <p:sp>
        <p:nvSpPr>
          <p:cNvPr id="7" name="drawio2pptx:shape:table_header1"/>
          <p:cNvSpPr/>
          <p:nvPr/>
        </p:nvSpPr>
        <p:spPr>
          <a:xfrm>
            <a:off x="952500" y="2095500"/>
            <a:ext cx="1905000" cy="47625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指标</a:t>
            </a:r>
          </a:p>
        </p:txBody>
      </p:sp>
      <p:sp>
        <p:nvSpPr>
          <p:cNvPr id="8" name="drawio2pptx:shape:table_header2"/>
          <p:cNvSpPr/>
          <p:nvPr/>
        </p:nvSpPr>
        <p:spPr>
          <a:xfrm>
            <a:off x="2857500" y="2095500"/>
            <a:ext cx="4762500" cy="47625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Base (FP16)</a:t>
            </a:r>
          </a:p>
        </p:txBody>
      </p:sp>
      <p:sp>
        <p:nvSpPr>
          <p:cNvPr id="9" name="drawio2pptx:shape:table_header3"/>
          <p:cNvSpPr/>
          <p:nvPr/>
        </p:nvSpPr>
        <p:spPr>
          <a:xfrm>
            <a:off x="7620000" y="2095500"/>
            <a:ext cx="4762500" cy="47625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GGUF Q4_K_M</a:t>
            </a:r>
          </a:p>
        </p:txBody>
      </p:sp>
      <p:sp>
        <p:nvSpPr>
          <p:cNvPr id="10" name="drawio2pptx:shape:table_header4"/>
          <p:cNvSpPr/>
          <p:nvPr/>
        </p:nvSpPr>
        <p:spPr>
          <a:xfrm>
            <a:off x="12382500" y="2095500"/>
            <a:ext cx="4953000" cy="47625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LoRA Merged</a:t>
            </a:r>
          </a:p>
        </p:txBody>
      </p:sp>
      <p:sp>
        <p:nvSpPr>
          <p:cNvPr id="11" name="drawio2pptx:shape:row1_k"/>
          <p:cNvSpPr/>
          <p:nvPr/>
        </p:nvSpPr>
        <p:spPr>
          <a:xfrm>
            <a:off x="952500" y="2571750"/>
            <a:ext cx="19050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模型大小</a:t>
            </a:r>
          </a:p>
        </p:txBody>
      </p:sp>
      <p:sp>
        <p:nvSpPr>
          <p:cNvPr id="12" name="drawio2pptx:shape:row1_v1"/>
          <p:cNvSpPr/>
          <p:nvPr/>
        </p:nvSpPr>
        <p:spPr>
          <a:xfrm>
            <a:off x="2857500" y="2571750"/>
            <a:ext cx="4762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16.0 GB</a:t>
            </a:r>
          </a:p>
        </p:txBody>
      </p:sp>
      <p:sp>
        <p:nvSpPr>
          <p:cNvPr id="13" name="drawio2pptx:shape:row1_v2"/>
          <p:cNvSpPr/>
          <p:nvPr/>
        </p:nvSpPr>
        <p:spPr>
          <a:xfrm>
            <a:off x="7620000" y="2571750"/>
            <a:ext cx="4762500" cy="47625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4.8 GB</a:t>
            </a:r>
          </a:p>
        </p:txBody>
      </p:sp>
      <p:sp>
        <p:nvSpPr>
          <p:cNvPr id="14" name="drawio2pptx:shape:row1_v3"/>
          <p:cNvSpPr/>
          <p:nvPr/>
        </p:nvSpPr>
        <p:spPr>
          <a:xfrm>
            <a:off x="12382500" y="2571750"/>
            <a:ext cx="4953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16.0 GB</a:t>
            </a:r>
          </a:p>
        </p:txBody>
      </p:sp>
      <p:sp>
        <p:nvSpPr>
          <p:cNvPr id="15" name="drawio2pptx:shape:row2_k"/>
          <p:cNvSpPr/>
          <p:nvPr/>
        </p:nvSpPr>
        <p:spPr>
          <a:xfrm>
            <a:off x="952500" y="3048000"/>
            <a:ext cx="19050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显存需求</a:t>
            </a:r>
          </a:p>
        </p:txBody>
      </p:sp>
      <p:sp>
        <p:nvSpPr>
          <p:cNvPr id="16" name="drawio2pptx:shape:row2_v1"/>
          <p:cNvSpPr/>
          <p:nvPr/>
        </p:nvSpPr>
        <p:spPr>
          <a:xfrm>
            <a:off x="2857500" y="3048000"/>
            <a:ext cx="4762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18.5 GB</a:t>
            </a:r>
          </a:p>
        </p:txBody>
      </p:sp>
      <p:sp>
        <p:nvSpPr>
          <p:cNvPr id="17" name="drawio2pptx:shape:row2_v2"/>
          <p:cNvSpPr/>
          <p:nvPr/>
        </p:nvSpPr>
        <p:spPr>
          <a:xfrm>
            <a:off x="7620000" y="3048000"/>
            <a:ext cx="4762500" cy="47625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7.2 GB</a:t>
            </a:r>
          </a:p>
        </p:txBody>
      </p:sp>
      <p:sp>
        <p:nvSpPr>
          <p:cNvPr id="18" name="drawio2pptx:shape:row2_v3"/>
          <p:cNvSpPr/>
          <p:nvPr/>
        </p:nvSpPr>
        <p:spPr>
          <a:xfrm>
            <a:off x="12382500" y="3048000"/>
            <a:ext cx="4953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18.5 GB</a:t>
            </a:r>
          </a:p>
        </p:txBody>
      </p:sp>
      <p:sp>
        <p:nvSpPr>
          <p:cNvPr id="19" name="drawio2pptx:shape:row3_k"/>
          <p:cNvSpPr/>
          <p:nvPr/>
        </p:nvSpPr>
        <p:spPr>
          <a:xfrm>
            <a:off x="952500" y="3524250"/>
            <a:ext cx="19050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推理延迟</a:t>
            </a:r>
          </a:p>
        </p:txBody>
      </p:sp>
      <p:sp>
        <p:nvSpPr>
          <p:cNvPr id="20" name="drawio2pptx:shape:row3_v1"/>
          <p:cNvSpPr/>
          <p:nvPr/>
        </p:nvSpPr>
        <p:spPr>
          <a:xfrm>
            <a:off x="2857500" y="3524250"/>
            <a:ext cx="4762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380 ms</a:t>
            </a:r>
          </a:p>
        </p:txBody>
      </p:sp>
      <p:sp>
        <p:nvSpPr>
          <p:cNvPr id="21" name="drawio2pptx:shape:row3_v2"/>
          <p:cNvSpPr/>
          <p:nvPr/>
        </p:nvSpPr>
        <p:spPr>
          <a:xfrm>
            <a:off x="7620000" y="3524250"/>
            <a:ext cx="4762500" cy="47625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280 ms</a:t>
            </a:r>
          </a:p>
        </p:txBody>
      </p:sp>
      <p:sp>
        <p:nvSpPr>
          <p:cNvPr id="22" name="drawio2pptx:shape:row3_v3"/>
          <p:cNvSpPr/>
          <p:nvPr/>
        </p:nvSpPr>
        <p:spPr>
          <a:xfrm>
            <a:off x="12382500" y="3524250"/>
            <a:ext cx="4953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350 ms</a:t>
            </a:r>
          </a:p>
        </p:txBody>
      </p:sp>
      <p:sp>
        <p:nvSpPr>
          <p:cNvPr id="23" name="drawio2pptx:shape:row4_k"/>
          <p:cNvSpPr/>
          <p:nvPr/>
        </p:nvSpPr>
        <p:spPr>
          <a:xfrm>
            <a:off x="952500" y="4000500"/>
            <a:ext cx="19050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吞吐量</a:t>
            </a:r>
          </a:p>
        </p:txBody>
      </p:sp>
      <p:sp>
        <p:nvSpPr>
          <p:cNvPr id="24" name="drawio2pptx:shape:row4_v1"/>
          <p:cNvSpPr/>
          <p:nvPr/>
        </p:nvSpPr>
        <p:spPr>
          <a:xfrm>
            <a:off x="2857500" y="4000500"/>
            <a:ext cx="4762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10.5 sps</a:t>
            </a:r>
          </a:p>
        </p:txBody>
      </p:sp>
      <p:sp>
        <p:nvSpPr>
          <p:cNvPr id="25" name="drawio2pptx:shape:row4_v2"/>
          <p:cNvSpPr/>
          <p:nvPr/>
        </p:nvSpPr>
        <p:spPr>
          <a:xfrm>
            <a:off x="7620000" y="4000500"/>
            <a:ext cx="4762500" cy="47625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15.5 sps</a:t>
            </a:r>
          </a:p>
        </p:txBody>
      </p:sp>
      <p:sp>
        <p:nvSpPr>
          <p:cNvPr id="26" name="drawio2pptx:shape:row4_v3"/>
          <p:cNvSpPr/>
          <p:nvPr/>
        </p:nvSpPr>
        <p:spPr>
          <a:xfrm>
            <a:off x="12382500" y="4000500"/>
            <a:ext cx="49530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12.0 sps</a:t>
            </a:r>
          </a:p>
        </p:txBody>
      </p:sp>
      <p:sp>
        <p:nvSpPr>
          <p:cNvPr id="27" name="drawio2pptx:shape:row5_k"/>
          <p:cNvSpPr/>
          <p:nvPr/>
        </p:nvSpPr>
        <p:spPr>
          <a:xfrm>
            <a:off x="952500" y="4476750"/>
            <a:ext cx="1905000" cy="476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精度损失</a:t>
            </a:r>
          </a:p>
        </p:txBody>
      </p:sp>
      <p:sp>
        <p:nvSpPr>
          <p:cNvPr id="28" name="drawio2pptx:shape:row5_v1"/>
          <p:cNvSpPr/>
          <p:nvPr/>
        </p:nvSpPr>
        <p:spPr>
          <a:xfrm>
            <a:off x="2857500" y="4476750"/>
            <a:ext cx="476250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基准</a:t>
            </a:r>
          </a:p>
        </p:txBody>
      </p:sp>
      <p:sp>
        <p:nvSpPr>
          <p:cNvPr id="29" name="drawio2pptx:shape:row5_v2"/>
          <p:cNvSpPr/>
          <p:nvPr/>
        </p:nvSpPr>
        <p:spPr>
          <a:xfrm>
            <a:off x="7620000" y="4476750"/>
            <a:ext cx="4762500" cy="47625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轻微</a:t>
            </a:r>
          </a:p>
        </p:txBody>
      </p:sp>
      <p:sp>
        <p:nvSpPr>
          <p:cNvPr id="30" name="drawio2pptx:shape:row5_v3"/>
          <p:cNvSpPr/>
          <p:nvPr/>
        </p:nvSpPr>
        <p:spPr>
          <a:xfrm>
            <a:off x="12382500" y="4476750"/>
            <a:ext cx="4953000" cy="47625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无（微调后）</a:t>
            </a:r>
          </a:p>
        </p:txBody>
      </p:sp>
      <p:sp>
        <p:nvSpPr>
          <p:cNvPr id="31" name="drawio2pptx:shape:conclusion"/>
          <p:cNvSpPr/>
          <p:nvPr/>
        </p:nvSpPr>
        <p:spPr>
          <a:xfrm>
            <a:off x="952500" y="5334000"/>
            <a:ext cx="16383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FFFFFF"/>
                </a:solidFill>
                <a:latin typeface="微软雅黑"/>
              </a:rPr>
              <a:t>结论：GGUF Q4量化在保持高精度的同时，显存需求降低60%，推理速度提升26%\n推荐：开发阶段使用LoRA微调模型，生产环境使用GGUF Q4量化部署</a:t>
            </a:r>
          </a:p>
        </p:txBody>
      </p:sp>
      <p:sp>
        <p:nvSpPr>
          <p:cNvPr id="32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08. 实验设计与结果</a:t>
            </a:r>
          </a:p>
        </p:txBody>
      </p:sp>
      <p:sp>
        <p:nvSpPr>
          <p:cNvPr id="6" name="drawio2pptx:shape:badge1"/>
          <p:cNvSpPr/>
          <p:nvPr/>
        </p:nvSpPr>
        <p:spPr>
          <a:xfrm>
            <a:off x="952500" y="152400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rawio2pptx:shape:subtitle1"/>
          <p:cNvSpPr/>
          <p:nvPr/>
        </p:nvSpPr>
        <p:spPr>
          <a:xfrm>
            <a:off x="1143000" y="152400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实验设置</a:t>
            </a:r>
          </a:p>
        </p:txBody>
      </p:sp>
      <p:sp>
        <p:nvSpPr>
          <p:cNvPr id="8" name="drawio2pptx:shape:content1"/>
          <p:cNvSpPr/>
          <p:nvPr/>
        </p:nvSpPr>
        <p:spPr>
          <a:xfrm>
            <a:off x="1143000" y="2000250"/>
            <a:ext cx="7620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• 数据集：中文多模态情感数据集（CMACD）\n• 训练集/验证集/测试集：7:1:2划分\n• 评估指标：Accuracy, F1, AUC-ROC, Emotion MAE\n• 对比基线：Base模型、GGUF量化模型、LoRA微调模型</a:t>
            </a:r>
          </a:p>
        </p:txBody>
      </p:sp>
      <p:sp>
        <p:nvSpPr>
          <p:cNvPr id="9" name="drawio2pptx:shape:badge2"/>
          <p:cNvSpPr/>
          <p:nvPr/>
        </p:nvSpPr>
        <p:spPr>
          <a:xfrm>
            <a:off x="952500" y="4095750"/>
            <a:ext cx="76200" cy="3429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wio2pptx:shape:subtitle2"/>
          <p:cNvSpPr/>
          <p:nvPr/>
        </p:nvSpPr>
        <p:spPr>
          <a:xfrm>
            <a:off x="1143000" y="4095750"/>
            <a:ext cx="3810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情感类别</a:t>
            </a:r>
          </a:p>
        </p:txBody>
      </p:sp>
      <p:sp>
        <p:nvSpPr>
          <p:cNvPr id="11" name="drawio2pptx:shape:emotions"/>
          <p:cNvSpPr/>
          <p:nvPr/>
        </p:nvSpPr>
        <p:spPr>
          <a:xfrm>
            <a:off x="1143000" y="4572000"/>
            <a:ext cx="7620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happy（开心）  neutral（中性）  sad（悲伤）\nangry（愤怒）  fear（恐惧）  surprise（惊讶）</a:t>
            </a:r>
          </a:p>
        </p:txBody>
      </p:sp>
      <p:sp>
        <p:nvSpPr>
          <p:cNvPr id="12" name="drawio2pptx:shape:results_header"/>
          <p:cNvSpPr/>
          <p:nvPr/>
        </p:nvSpPr>
        <p:spPr>
          <a:xfrm>
            <a:off x="9144000" y="1524000"/>
            <a:ext cx="8191500" cy="4762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实验结果</a:t>
            </a:r>
          </a:p>
        </p:txBody>
      </p:sp>
      <p:sp>
        <p:nvSpPr>
          <p:cNvPr id="13" name="drawio2pptx:shape:res_table"/>
          <p:cNvSpPr/>
          <p:nvPr/>
        </p:nvSpPr>
        <p:spPr>
          <a:xfrm>
            <a:off x="9144000" y="2095500"/>
            <a:ext cx="81915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Consolas"/>
              </a:rPr>
              <a:t>指标          Base      GGUF Q4    LoRA\n准确率        58%       72%        82%\nF1 Score     0.48      0.62       0.74\nAUC-ROC      0.75      0.88       0.94\nEmotion MAE  0.165     0.105      0.072</a:t>
            </a:r>
          </a:p>
        </p:txBody>
      </p:sp>
      <p:sp>
        <p:nvSpPr>
          <p:cNvPr id="14" name="drawio2pptx:shape:highlight"/>
          <p:cNvSpPr/>
          <p:nvPr/>
        </p:nvSpPr>
        <p:spPr>
          <a:xfrm>
            <a:off x="9144000" y="4191000"/>
            <a:ext cx="8191500" cy="571500"/>
          </a:xfrm>
          <a:prstGeom prst="rect">
            <a:avLst/>
          </a:prstGeom>
          <a:solidFill>
            <a:srgbClr val="C8E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LoRA微调后：准确率提升+24%，F1提升+54%，Emotion MAE降低56%</a:t>
            </a:r>
          </a:p>
        </p:txBody>
      </p:sp>
      <p:sp>
        <p:nvSpPr>
          <p:cNvPr id="15" name="drawio2pptx:shape:chart_placeholder"/>
          <p:cNvSpPr/>
          <p:nvPr/>
        </p:nvSpPr>
        <p:spPr>
          <a:xfrm>
            <a:off x="952500" y="5715000"/>
            <a:ext cx="16383000" cy="142875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📊 性能对比柱状图\n（请替换为实际图表截图）</a:t>
            </a:r>
          </a:p>
        </p:txBody>
      </p:sp>
      <p:sp>
        <p:nvSpPr>
          <p:cNvPr id="16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09. 模型对比分析</a:t>
            </a:r>
          </a:p>
        </p:txBody>
      </p:sp>
      <p:sp>
        <p:nvSpPr>
          <p:cNvPr id="6" name="drawio2pptx:shape:radar_placeholder"/>
          <p:cNvSpPr/>
          <p:nvPr/>
        </p:nvSpPr>
        <p:spPr>
          <a:xfrm>
            <a:off x="952500" y="1524000"/>
            <a:ext cx="8096250" cy="333375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📈 雷达图：Base vs GGUF vs LoRA\n\n（请替换为实际图表截图）</a:t>
            </a:r>
          </a:p>
        </p:txBody>
      </p:sp>
      <p:sp>
        <p:nvSpPr>
          <p:cNvPr id="7" name="drawio2pptx:shape:improvement"/>
          <p:cNvSpPr/>
          <p:nvPr/>
        </p:nvSpPr>
        <p:spPr>
          <a:xfrm>
            <a:off x="9525000" y="1524000"/>
            <a:ext cx="7810500" cy="333375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改进幅度（LoRA vs Base）\n\n准确率\n████████████ 58% → 82% (+24%)\n\nF1 Score\n████████████ 0.48 → 0.74 (+54%)\n\nAUC-ROC\n████████████ 0.75 → 0.94 (+25%)\n\nEmotion MAE\n████████████ 0.165 → 0.072 (-56%)</a:t>
            </a:r>
          </a:p>
        </p:txBody>
      </p:sp>
      <p:sp>
        <p:nvSpPr>
          <p:cNvPr id="8" name="drawio2pptx:shape:per_class_header"/>
          <p:cNvSpPr/>
          <p:nvPr/>
        </p:nvSpPr>
        <p:spPr>
          <a:xfrm>
            <a:off x="952500" y="5143500"/>
            <a:ext cx="16383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A1A2E"/>
                </a:solidFill>
                <a:latin typeface="微软雅黑"/>
              </a:rPr>
              <a:t>各类别F1 Score对比</a:t>
            </a:r>
          </a:p>
        </p:txBody>
      </p:sp>
      <p:sp>
        <p:nvSpPr>
          <p:cNvPr id="9" name="drawio2pptx:shape:per_class"/>
          <p:cNvSpPr/>
          <p:nvPr/>
        </p:nvSpPr>
        <p:spPr>
          <a:xfrm>
            <a:off x="952500" y="5619750"/>
            <a:ext cx="16383000" cy="1905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Consolas"/>
              </a:rPr>
              <a:t>类别     Base    GGUF Q4    LoRA\nhappy    0.73     0.81       0.91\nangry    0.51     0.73       0.87\nsad      0.53     0.62       0.73\nneutral  0.46     0.63       0.77\nfear     0.44     0.61       0.81\nsurprise 0.30     0.42       0.67</a:t>
            </a:r>
          </a:p>
        </p:txBody>
      </p:sp>
      <p:sp>
        <p:nvSpPr>
          <p:cNvPr id="10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10. 训练曲线（SwanLab）</a:t>
            </a:r>
          </a:p>
        </p:txBody>
      </p:sp>
      <p:sp>
        <p:nvSpPr>
          <p:cNvPr id="6" name="drawio2pptx:shape:curve1_placeholder"/>
          <p:cNvSpPr/>
          <p:nvPr/>
        </p:nvSpPr>
        <p:spPr>
          <a:xfrm>
            <a:off x="952500" y="1524000"/>
            <a:ext cx="8096250" cy="361950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📊 训练损失曲线\nLoss vs Steps\n（请替换为SwanLab截图）</a:t>
            </a:r>
          </a:p>
        </p:txBody>
      </p:sp>
      <p:sp>
        <p:nvSpPr>
          <p:cNvPr id="7" name="drawio2pptx:shape:curve2_placeholder"/>
          <p:cNvSpPr/>
          <p:nvPr/>
        </p:nvSpPr>
        <p:spPr>
          <a:xfrm>
            <a:off x="9525000" y="1524000"/>
            <a:ext cx="7810500" cy="3619500"/>
          </a:xfrm>
          <a:prstGeom prst="rect">
            <a:avLst/>
          </a:prstGeom>
          <a:solidFill>
            <a:srgbClr val="FFF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📊 验证准确率曲线\nVal Acc vs Steps\n（请替换为SwanLab截图）</a:t>
            </a:r>
          </a:p>
        </p:txBody>
      </p:sp>
      <p:sp>
        <p:nvSpPr>
          <p:cNvPr id="8" name="drawio2pptx:shape:link_label"/>
          <p:cNvSpPr/>
          <p:nvPr/>
        </p:nvSpPr>
        <p:spPr>
          <a:xfrm>
            <a:off x="952500" y="5429250"/>
            <a:ext cx="16383000" cy="381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u="none">
                <a:solidFill>
                  <a:srgbClr val="1A1A2E"/>
                </a:solidFill>
                <a:latin typeface="微软雅黑"/>
              </a:rPr>
              <a:t>SwanLab项目链接</a:t>
            </a:r>
          </a:p>
        </p:txBody>
      </p:sp>
      <p:sp>
        <p:nvSpPr>
          <p:cNvPr id="9" name="drawio2pptx:shape:link_url"/>
          <p:cNvSpPr/>
          <p:nvPr/>
        </p:nvSpPr>
        <p:spPr>
          <a:xfrm>
            <a:off x="952500" y="5905500"/>
            <a:ext cx="16383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0170C1"/>
                </a:solidFill>
                <a:latin typeface="微软雅黑"/>
              </a:rPr>
              <a:t>https://swanlab.cn/project/cmacd-lora-v2/cmacd-v2-relabel-run1</a:t>
            </a:r>
          </a:p>
        </p:txBody>
      </p:sp>
      <p:sp>
        <p:nvSpPr>
          <p:cNvPr id="10" name="drawio2pptx:shape:note"/>
          <p:cNvSpPr/>
          <p:nvPr/>
        </p:nvSpPr>
        <p:spPr>
          <a:xfrm>
            <a:off x="952500" y="6477000"/>
            <a:ext cx="16383000" cy="9525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1A1A2E"/>
                </a:solidFill>
                <a:latin typeface="微软雅黑"/>
              </a:rPr>
              <a:t>💡 提示：训练曲线可通过以下命令导出\npython export_training_history.py --project cmacd-lora-v2 --experiment cmacd-v2-relabel-run1 --output frontend/public/output/training_history.json</a:t>
            </a:r>
          </a:p>
        </p:txBody>
      </p:sp>
      <p:sp>
        <p:nvSpPr>
          <p:cNvPr id="11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opbar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rawio2pptx:shape:goldline"/>
          <p:cNvSpPr/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rawio2pptx:shape:title"/>
          <p:cNvSpPr/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  11. 总结与后续计划</a:t>
            </a:r>
          </a:p>
        </p:txBody>
      </p:sp>
      <p:sp>
        <p:nvSpPr>
          <p:cNvPr id="6" name="drawio2pptx:shape:done_header"/>
          <p:cNvSpPr/>
          <p:nvPr/>
        </p:nvSpPr>
        <p:spPr>
          <a:xfrm>
            <a:off x="952500" y="1524000"/>
            <a:ext cx="7810500" cy="47625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✓ 已完成</a:t>
            </a:r>
          </a:p>
        </p:txBody>
      </p:sp>
      <p:sp>
        <p:nvSpPr>
          <p:cNvPr id="7" name="drawio2pptx:shape:done_content"/>
          <p:cNvSpPr/>
          <p:nvPr/>
        </p:nvSpPr>
        <p:spPr>
          <a:xfrm>
            <a:off x="952500" y="2095500"/>
            <a:ext cx="78105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✅ 系统架构设计与实现\n✅ 7步Chain-of-Thought推理链\n✅ LoRA微调训练流程\n✅ GGUF量化部署方案\n✅ Web可视化界面\n✅ 多模型对比评估</a:t>
            </a:r>
          </a:p>
        </p:txBody>
      </p:sp>
      <p:sp>
        <p:nvSpPr>
          <p:cNvPr id="8" name="drawio2pptx:shape:todo_header"/>
          <p:cNvSpPr/>
          <p:nvPr/>
        </p:nvSpPr>
        <p:spPr>
          <a:xfrm>
            <a:off x="9525000" y="1524000"/>
            <a:ext cx="7810500" cy="47625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→ 后续计划</a:t>
            </a:r>
          </a:p>
        </p:txBody>
      </p:sp>
      <p:sp>
        <p:nvSpPr>
          <p:cNvPr id="9" name="drawio2pptx:shape:todo_content"/>
          <p:cNvSpPr/>
          <p:nvPr/>
        </p:nvSpPr>
        <p:spPr>
          <a:xfrm>
            <a:off x="9525000" y="2095500"/>
            <a:ext cx="7810500" cy="2667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A1A2E"/>
                </a:solidFill>
                <a:latin typeface="微软雅黑"/>
              </a:rPr>
              <a:t>📋 MBTI推断精度提升\n📋 更多情感数据集测试\n📋 多语言情感分析扩展\n📋 端侧部署优化（Qwen2.5-1.5B）\n📋 论文撰写</a:t>
            </a:r>
          </a:p>
        </p:txBody>
      </p:sp>
      <p:sp>
        <p:nvSpPr>
          <p:cNvPr id="10" name="drawio2pptx:shape:timeline_header"/>
          <p:cNvSpPr/>
          <p:nvPr/>
        </p:nvSpPr>
        <p:spPr>
          <a:xfrm>
            <a:off x="952500" y="5143500"/>
            <a:ext cx="16383000" cy="381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微软雅黑"/>
              </a:rPr>
              <a:t>时间规划</a:t>
            </a:r>
          </a:p>
        </p:txBody>
      </p:sp>
      <p:sp>
        <p:nvSpPr>
          <p:cNvPr id="11" name="drawio2pptx:shape:timeline"/>
          <p:cNvSpPr/>
          <p:nvPr/>
        </p:nvSpPr>
        <p:spPr>
          <a:xfrm>
            <a:off x="952500" y="5619750"/>
            <a:ext cx="16383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A1A2E"/>
                </a:solidFill>
                <a:latin typeface="微软雅黑"/>
              </a:rPr>
              <a:t>4月        5月        6月        7月        8月\n论文初稿 → 论文修改 → 论文定稿 → 答辩准备 → 正式答辩</a:t>
            </a:r>
          </a:p>
        </p:txBody>
      </p:sp>
      <p:sp>
        <p:nvSpPr>
          <p:cNvPr id="12" name="drawio2pptx:shape:botline"/>
          <p:cNvSpPr/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rawio2pptx:shape:date"/>
          <p:cNvSpPr/>
          <p:nvPr/>
        </p:nvSpPr>
        <p:spPr>
          <a:xfrm>
            <a:off x="15240000" y="9944100"/>
            <a:ext cx="2667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u="none">
                <a:solidFill>
                  <a:srgbClr val="4A5568"/>
                </a:solidFill>
                <a:latin typeface="微软雅黑"/>
              </a:rPr>
              <a:t>2026年4月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rawio2pptx:shape:thanks"/>
          <p:cNvSpPr/>
          <p:nvPr/>
        </p:nvSpPr>
        <p:spPr>
          <a:xfrm>
            <a:off x="1905000" y="2857500"/>
            <a:ext cx="14478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FFFFFF"/>
                </a:solidFill>
                <a:latin typeface="微软雅黑"/>
              </a:rPr>
              <a:t>感谢各位老师的聆听与指导！</a:t>
            </a:r>
          </a:p>
        </p:txBody>
      </p:sp>
      <p:sp>
        <p:nvSpPr>
          <p:cNvPr id="4" name="drawio2pptx:shape:qa"/>
          <p:cNvSpPr/>
          <p:nvPr/>
        </p:nvSpPr>
        <p:spPr>
          <a:xfrm>
            <a:off x="6667500" y="4286250"/>
            <a:ext cx="49530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u="none">
                <a:solidFill>
                  <a:srgbClr val="C9A84C"/>
                </a:solidFill>
                <a:latin typeface="Arial"/>
              </a:rPr>
              <a:t>Q and A</a:t>
            </a:r>
          </a:p>
        </p:txBody>
      </p:sp>
      <p:sp>
        <p:nvSpPr>
          <p:cNvPr id="5" name="drawio2pptx:shape:info"/>
          <p:cNvSpPr/>
          <p:nvPr/>
        </p:nvSpPr>
        <p:spPr>
          <a:xfrm>
            <a:off x="6667500" y="6667500"/>
            <a:ext cx="4953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FFFFFF"/>
                </a:solidFill>
                <a:latin typeface="微软雅黑"/>
              </a:rPr>
              <a:t>汇报人：王少坤\n指导教师：李佳\n2026年4月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